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a2ecb291b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a2ecb291b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ae9aa9cd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ae9aa9cd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a7840a094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a7840a094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a2ecb291b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a2ecb291b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2ecb291b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a2ecb291b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a2ecb291b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a2ecb291b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a2ecb291b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a2ecb291b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a78ca6d6b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a78ca6d6b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a2ecb291b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a2ecb291b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a2ecb291be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a2ecb291be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a2ecb291b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a2ecb291b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22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159445" y="4144200"/>
            <a:ext cx="984551" cy="9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222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00" y="65336"/>
            <a:ext cx="1913424" cy="4408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CABNfs</a:t>
            </a:r>
            <a:endParaRPr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CMSC 621 - Fall 2020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Christian Badolato and Andre Nguyen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222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Goals and Objectives - Christian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and Architecture - Christian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Resilience in the Presence of Node Failures - Christian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Replication - Christian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Tools Used - Christian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 - Andre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Experimental Results - Andre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Challenges and Lessons - Andre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and Objectives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222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and implementation of a simple distributed file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Server / Client interaction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Same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Fault Tolerance through replication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Consistency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List Files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Atomic Write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Concurrent Write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Metric gathering and experimental validation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 and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065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Linux Based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Designed for High read availability / Low write availability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Assume the average use-case of the fs is to infrequently update widely accessed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Read is guaranteed if </a:t>
            </a:r>
            <a:r>
              <a:rPr b="1" lang="en"/>
              <a:t>any </a:t>
            </a:r>
            <a:r>
              <a:rPr lang="en"/>
              <a:t>node is active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 can be attempted if </a:t>
            </a:r>
            <a:r>
              <a:rPr b="1" lang="en"/>
              <a:t>any</a:t>
            </a:r>
            <a:r>
              <a:rPr lang="en"/>
              <a:t> node is active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Write cannot be performed unless </a:t>
            </a:r>
            <a:r>
              <a:rPr b="1" lang="en"/>
              <a:t>every</a:t>
            </a:r>
            <a:r>
              <a:rPr lang="en"/>
              <a:t> node is active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Possible use-case: Storing lab results where data is rarely if ever changed but frequently added to and accessed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Fully distributed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management node removes single point of failure for read/create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a “primary server” designation for each 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Primaries in charge of distributing replicas and de-conflicting concurrent writes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Replicates for fault tolerance and quick access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local replicas removes the need to perform network-based modifications every change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1400547" y="2235053"/>
            <a:ext cx="1185300" cy="156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1789800" y="4231131"/>
            <a:ext cx="727800" cy="62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1940816" y="4852069"/>
            <a:ext cx="5034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Client</a:t>
            </a:r>
            <a:endParaRPr sz="800"/>
          </a:p>
        </p:txBody>
      </p:sp>
      <p:sp>
        <p:nvSpPr>
          <p:cNvPr id="84" name="Google Shape;84;p17"/>
          <p:cNvSpPr txBox="1"/>
          <p:nvPr/>
        </p:nvSpPr>
        <p:spPr>
          <a:xfrm>
            <a:off x="1572918" y="3203525"/>
            <a:ext cx="840300" cy="3027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FUSE</a:t>
            </a:r>
            <a:endParaRPr sz="1100"/>
          </a:p>
        </p:txBody>
      </p:sp>
      <p:sp>
        <p:nvSpPr>
          <p:cNvPr id="85" name="Google Shape;85;p17"/>
          <p:cNvSpPr txBox="1"/>
          <p:nvPr/>
        </p:nvSpPr>
        <p:spPr>
          <a:xfrm>
            <a:off x="1572918" y="2751043"/>
            <a:ext cx="840300" cy="302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CABNfs</a:t>
            </a:r>
            <a:endParaRPr sz="1100"/>
          </a:p>
        </p:txBody>
      </p:sp>
      <p:sp>
        <p:nvSpPr>
          <p:cNvPr id="86" name="Google Shape;86;p17"/>
          <p:cNvSpPr txBox="1"/>
          <p:nvPr/>
        </p:nvSpPr>
        <p:spPr>
          <a:xfrm>
            <a:off x="1572918" y="2327299"/>
            <a:ext cx="840300" cy="30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RabbitMQ</a:t>
            </a:r>
            <a:endParaRPr sz="1100"/>
          </a:p>
        </p:txBody>
      </p:sp>
      <p:sp>
        <p:nvSpPr>
          <p:cNvPr id="87" name="Google Shape;87;p17"/>
          <p:cNvSpPr/>
          <p:nvPr/>
        </p:nvSpPr>
        <p:spPr>
          <a:xfrm>
            <a:off x="3626748" y="675000"/>
            <a:ext cx="1185300" cy="156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3799119" y="1643472"/>
            <a:ext cx="840300" cy="3027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FUSE</a:t>
            </a:r>
            <a:endParaRPr sz="1100"/>
          </a:p>
        </p:txBody>
      </p:sp>
      <p:sp>
        <p:nvSpPr>
          <p:cNvPr id="89" name="Google Shape;89;p17"/>
          <p:cNvSpPr txBox="1"/>
          <p:nvPr/>
        </p:nvSpPr>
        <p:spPr>
          <a:xfrm>
            <a:off x="3799119" y="1190990"/>
            <a:ext cx="840300" cy="302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CABNfs</a:t>
            </a:r>
            <a:endParaRPr sz="1100"/>
          </a:p>
        </p:txBody>
      </p:sp>
      <p:sp>
        <p:nvSpPr>
          <p:cNvPr id="90" name="Google Shape;90;p17"/>
          <p:cNvSpPr txBox="1"/>
          <p:nvPr/>
        </p:nvSpPr>
        <p:spPr>
          <a:xfrm>
            <a:off x="3799119" y="767246"/>
            <a:ext cx="840300" cy="30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RabbitMQ</a:t>
            </a:r>
            <a:endParaRPr sz="1100"/>
          </a:p>
        </p:txBody>
      </p:sp>
      <p:sp>
        <p:nvSpPr>
          <p:cNvPr id="91" name="Google Shape;91;p17"/>
          <p:cNvSpPr/>
          <p:nvPr/>
        </p:nvSpPr>
        <p:spPr>
          <a:xfrm>
            <a:off x="6325429" y="1946231"/>
            <a:ext cx="1185300" cy="156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6497801" y="2914704"/>
            <a:ext cx="840300" cy="3027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FUSE</a:t>
            </a:r>
            <a:endParaRPr sz="1100"/>
          </a:p>
        </p:txBody>
      </p:sp>
      <p:sp>
        <p:nvSpPr>
          <p:cNvPr id="93" name="Google Shape;93;p17"/>
          <p:cNvSpPr txBox="1"/>
          <p:nvPr/>
        </p:nvSpPr>
        <p:spPr>
          <a:xfrm>
            <a:off x="6497801" y="2462221"/>
            <a:ext cx="840300" cy="302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CABNfs</a:t>
            </a:r>
            <a:endParaRPr sz="1100"/>
          </a:p>
        </p:txBody>
      </p:sp>
      <p:sp>
        <p:nvSpPr>
          <p:cNvPr id="94" name="Google Shape;94;p17"/>
          <p:cNvSpPr txBox="1"/>
          <p:nvPr/>
        </p:nvSpPr>
        <p:spPr>
          <a:xfrm>
            <a:off x="6497801" y="2038477"/>
            <a:ext cx="840300" cy="30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RabbitMQ</a:t>
            </a:r>
            <a:endParaRPr sz="1100"/>
          </a:p>
        </p:txBody>
      </p:sp>
      <p:sp>
        <p:nvSpPr>
          <p:cNvPr id="95" name="Google Shape;95;p17"/>
          <p:cNvSpPr/>
          <p:nvPr/>
        </p:nvSpPr>
        <p:spPr>
          <a:xfrm>
            <a:off x="6325429" y="3965389"/>
            <a:ext cx="727800" cy="62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6476445" y="4586327"/>
            <a:ext cx="5034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Client</a:t>
            </a:r>
            <a:endParaRPr sz="800"/>
          </a:p>
        </p:txBody>
      </p:sp>
      <p:sp>
        <p:nvSpPr>
          <p:cNvPr id="97" name="Google Shape;97;p17"/>
          <p:cNvSpPr/>
          <p:nvPr/>
        </p:nvSpPr>
        <p:spPr>
          <a:xfrm>
            <a:off x="3626736" y="2804097"/>
            <a:ext cx="727800" cy="62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3777752" y="3425035"/>
            <a:ext cx="5034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Client</a:t>
            </a:r>
            <a:endParaRPr sz="800"/>
          </a:p>
        </p:txBody>
      </p:sp>
      <p:cxnSp>
        <p:nvCxnSpPr>
          <p:cNvPr id="99" name="Google Shape;99;p17"/>
          <p:cNvCxnSpPr>
            <a:stCxn id="86" idx="0"/>
            <a:endCxn id="90" idx="1"/>
          </p:cNvCxnSpPr>
          <p:nvPr/>
        </p:nvCxnSpPr>
        <p:spPr>
          <a:xfrm flipH="1" rot="10800000">
            <a:off x="1993068" y="918499"/>
            <a:ext cx="1806000" cy="1408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" name="Google Shape;100;p17"/>
          <p:cNvCxnSpPr>
            <a:stCxn id="90" idx="3"/>
            <a:endCxn id="94" idx="0"/>
          </p:cNvCxnSpPr>
          <p:nvPr/>
        </p:nvCxnSpPr>
        <p:spPr>
          <a:xfrm>
            <a:off x="4639419" y="918596"/>
            <a:ext cx="2278500" cy="11199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" name="Google Shape;101;p17"/>
          <p:cNvCxnSpPr>
            <a:stCxn id="86" idx="3"/>
            <a:endCxn id="94" idx="1"/>
          </p:cNvCxnSpPr>
          <p:nvPr/>
        </p:nvCxnSpPr>
        <p:spPr>
          <a:xfrm flipH="1" rot="10800000">
            <a:off x="2413218" y="2189749"/>
            <a:ext cx="4084500" cy="2889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2" name="Google Shape;102;p17"/>
          <p:cNvCxnSpPr>
            <a:stCxn id="82" idx="0"/>
            <a:endCxn id="84" idx="2"/>
          </p:cNvCxnSpPr>
          <p:nvPr/>
        </p:nvCxnSpPr>
        <p:spPr>
          <a:xfrm rot="10800000">
            <a:off x="1993200" y="3506331"/>
            <a:ext cx="160500" cy="7248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3" name="Google Shape;103;p17"/>
          <p:cNvSpPr txBox="1"/>
          <p:nvPr/>
        </p:nvSpPr>
        <p:spPr>
          <a:xfrm flipH="1" rot="-5400000">
            <a:off x="937925" y="2924844"/>
            <a:ext cx="9855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Docker Container</a:t>
            </a:r>
            <a:endParaRPr sz="800"/>
          </a:p>
        </p:txBody>
      </p:sp>
      <p:cxnSp>
        <p:nvCxnSpPr>
          <p:cNvPr id="104" name="Google Shape;104;p17"/>
          <p:cNvCxnSpPr>
            <a:stCxn id="97" idx="0"/>
            <a:endCxn id="88" idx="2"/>
          </p:cNvCxnSpPr>
          <p:nvPr/>
        </p:nvCxnSpPr>
        <p:spPr>
          <a:xfrm flipH="1" rot="10800000">
            <a:off x="3990636" y="1946097"/>
            <a:ext cx="228600" cy="8580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" name="Google Shape;105;p17"/>
          <p:cNvCxnSpPr>
            <a:stCxn id="95" idx="0"/>
            <a:endCxn id="92" idx="2"/>
          </p:cNvCxnSpPr>
          <p:nvPr/>
        </p:nvCxnSpPr>
        <p:spPr>
          <a:xfrm flipH="1" rot="10800000">
            <a:off x="6689329" y="3217489"/>
            <a:ext cx="228600" cy="7479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" name="Google Shape;106;p17"/>
          <p:cNvSpPr txBox="1"/>
          <p:nvPr/>
        </p:nvSpPr>
        <p:spPr>
          <a:xfrm flipH="1" rot="-5400000">
            <a:off x="3141243" y="1472605"/>
            <a:ext cx="9855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Docker Container</a:t>
            </a:r>
            <a:endParaRPr sz="800"/>
          </a:p>
        </p:txBody>
      </p:sp>
      <p:sp>
        <p:nvSpPr>
          <p:cNvPr id="107" name="Google Shape;107;p17"/>
          <p:cNvSpPr txBox="1"/>
          <p:nvPr/>
        </p:nvSpPr>
        <p:spPr>
          <a:xfrm flipH="1" rot="-5400000">
            <a:off x="5870551" y="2743836"/>
            <a:ext cx="9855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Docker Container</a:t>
            </a:r>
            <a:endParaRPr sz="800"/>
          </a:p>
        </p:txBody>
      </p:sp>
      <p:cxnSp>
        <p:nvCxnSpPr>
          <p:cNvPr id="108" name="Google Shape;108;p17"/>
          <p:cNvCxnSpPr/>
          <p:nvPr/>
        </p:nvCxnSpPr>
        <p:spPr>
          <a:xfrm rot="10800000">
            <a:off x="2008602" y="2594211"/>
            <a:ext cx="7500" cy="2643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" name="Google Shape;109;p17"/>
          <p:cNvCxnSpPr/>
          <p:nvPr/>
        </p:nvCxnSpPr>
        <p:spPr>
          <a:xfrm rot="10800000">
            <a:off x="2000908" y="3005500"/>
            <a:ext cx="7500" cy="2643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" name="Google Shape;110;p17"/>
          <p:cNvCxnSpPr/>
          <p:nvPr/>
        </p:nvCxnSpPr>
        <p:spPr>
          <a:xfrm rot="10800000">
            <a:off x="4219502" y="1043202"/>
            <a:ext cx="7500" cy="2643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1" name="Google Shape;111;p17"/>
          <p:cNvCxnSpPr/>
          <p:nvPr/>
        </p:nvCxnSpPr>
        <p:spPr>
          <a:xfrm rot="10800000">
            <a:off x="4211808" y="1454491"/>
            <a:ext cx="7500" cy="2643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2" name="Google Shape;112;p17"/>
          <p:cNvCxnSpPr/>
          <p:nvPr/>
        </p:nvCxnSpPr>
        <p:spPr>
          <a:xfrm rot="10800000">
            <a:off x="6925889" y="2290278"/>
            <a:ext cx="7500" cy="2643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3" name="Google Shape;113;p17"/>
          <p:cNvCxnSpPr/>
          <p:nvPr/>
        </p:nvCxnSpPr>
        <p:spPr>
          <a:xfrm rot="10800000">
            <a:off x="6918195" y="2701568"/>
            <a:ext cx="7500" cy="2643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Resilience in Presence of Node Failures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222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primary server is shutting down, it nominates a random replica-holder to become the new primary server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fine given the assumption of all shutdowns being graceful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chosen primary-elect is unable to promote itself, the primary will choose a different replica-holder to become the primary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servers are notified of any primary changes and update accordingly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event no primary-elect can be promoted or the shutting-down server is the last server alive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Error written to logs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files on the server will remain in-tact, uncorrupted, and will be recovered upon server </a:t>
            </a:r>
            <a:r>
              <a:rPr lang="en"/>
              <a:t>restart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Replication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1222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file is replicated a configurable number of times across the servers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reading, a local replica is copied down to the working server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Reduces access time by having the file locally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Replicas ensure files are not lost on total disk failure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long as two or more nodes were running at any point since file creation, the failure of any one server will not cause the file to become </a:t>
            </a:r>
            <a:r>
              <a:rPr lang="en"/>
              <a:t>permanently</a:t>
            </a:r>
            <a:r>
              <a:rPr lang="en"/>
              <a:t> lost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Replication follows an “at least” replication factor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system will </a:t>
            </a:r>
            <a:r>
              <a:rPr lang="en"/>
              <a:t>guarantee</a:t>
            </a:r>
            <a:r>
              <a:rPr lang="en"/>
              <a:t> at least the configurable replication factor of replicas is present (if possible)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Replica rebalancing occurs whenever a new primary is selected for a 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Rebalancing attempts to ensure only the replication factor number of file copies exist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Servers with more disk space are prioritized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1222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Several third-party free tools / APIs listed below were used within this filesystem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FUSE - Filesystem in Userspace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API within the Linux Kernel which allows filesystems to be written in userspace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Drastically simplifies the hook-ins to Linux filesystem operations without using kernel drivers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pyFUSE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python module for creating a FUSE filesystem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RabbitMQ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open-source messaging API based on Advanced Message Queuing Protocol (AMQP) which provides simple messaging and health monitoring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containerization service which allows for consistent and predictable development and deployment images which can be recreated and expanded as needed with little effort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Results</a:t>
            </a:r>
            <a:endParaRPr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125" y="1222450"/>
            <a:ext cx="6455000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Challenges, Lessons, and Next Steps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311700" y="1222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included: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curves for the tools used, in particular FUSE and RabbitMQ.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Slow messaging and data transfer between nodes, and related messaging timeouts and TTL configuration.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Debugging in the context of a distributed system.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Docker greatly simplified our development process and iteration.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Next steps would focus on improving the design and configuration of the data transfer procedure to allow for a higher success rate of larger data size operations.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